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360920" y="502920"/>
            <a:ext cx="0" cy="5760720"/>
          </a:xfrm>
          <a:prstGeom prst="line">
            <a:avLst/>
          </a:prstGeom>
          <a:ln w="7620">
            <a:solidFill>
              <a:srgbClr val="11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891272" y="502920"/>
            <a:ext cx="0" cy="5760720"/>
          </a:xfrm>
          <a:prstGeom prst="line">
            <a:avLst/>
          </a:prstGeom>
          <a:ln w="7620">
            <a:solidFill>
              <a:srgbClr val="11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421624" y="502920"/>
            <a:ext cx="0" cy="5760720"/>
          </a:xfrm>
          <a:prstGeom prst="line">
            <a:avLst/>
          </a:prstGeom>
          <a:ln w="7620">
            <a:solidFill>
              <a:srgbClr val="11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951976" y="502920"/>
            <a:ext cx="0" cy="5760720"/>
          </a:xfrm>
          <a:prstGeom prst="line">
            <a:avLst/>
          </a:prstGeom>
          <a:ln w="7620">
            <a:solidFill>
              <a:srgbClr val="11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482328" y="502920"/>
            <a:ext cx="0" cy="5760720"/>
          </a:xfrm>
          <a:prstGeom prst="line">
            <a:avLst/>
          </a:prstGeom>
          <a:ln w="7620">
            <a:solidFill>
              <a:srgbClr val="11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012680" y="502920"/>
            <a:ext cx="0" cy="5760720"/>
          </a:xfrm>
          <a:prstGeom prst="line">
            <a:avLst/>
          </a:prstGeom>
          <a:ln w="7620">
            <a:solidFill>
              <a:srgbClr val="11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543032" y="502920"/>
            <a:ext cx="0" cy="5760720"/>
          </a:xfrm>
          <a:prstGeom prst="line">
            <a:avLst/>
          </a:prstGeom>
          <a:ln w="7620">
            <a:solidFill>
              <a:srgbClr val="11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32320" y="731520"/>
            <a:ext cx="4297680" cy="0"/>
          </a:xfrm>
          <a:prstGeom prst="line">
            <a:avLst/>
          </a:prstGeom>
          <a:ln w="7620">
            <a:solidFill>
              <a:srgbClr val="11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132320" y="1389888"/>
            <a:ext cx="4297680" cy="0"/>
          </a:xfrm>
          <a:prstGeom prst="line">
            <a:avLst/>
          </a:prstGeom>
          <a:ln w="7620">
            <a:solidFill>
              <a:srgbClr val="11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32320" y="2048256"/>
            <a:ext cx="4297680" cy="0"/>
          </a:xfrm>
          <a:prstGeom prst="line">
            <a:avLst/>
          </a:prstGeom>
          <a:ln w="7620">
            <a:solidFill>
              <a:srgbClr val="11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32320" y="2706624"/>
            <a:ext cx="4297680" cy="0"/>
          </a:xfrm>
          <a:prstGeom prst="line">
            <a:avLst/>
          </a:prstGeom>
          <a:ln w="7620">
            <a:solidFill>
              <a:srgbClr val="11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132320" y="3364991"/>
            <a:ext cx="4297680" cy="0"/>
          </a:xfrm>
          <a:prstGeom prst="line">
            <a:avLst/>
          </a:prstGeom>
          <a:ln w="7620">
            <a:solidFill>
              <a:srgbClr val="11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132320" y="4023359"/>
            <a:ext cx="4297680" cy="0"/>
          </a:xfrm>
          <a:prstGeom prst="line">
            <a:avLst/>
          </a:prstGeom>
          <a:ln w="7620">
            <a:solidFill>
              <a:srgbClr val="11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4681728"/>
            <a:ext cx="4297680" cy="0"/>
          </a:xfrm>
          <a:prstGeom prst="line">
            <a:avLst/>
          </a:prstGeom>
          <a:ln w="7620">
            <a:solidFill>
              <a:srgbClr val="11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132320" y="5340096"/>
            <a:ext cx="4297680" cy="0"/>
          </a:xfrm>
          <a:prstGeom prst="line">
            <a:avLst/>
          </a:prstGeom>
          <a:ln w="7620">
            <a:solidFill>
              <a:srgbClr val="11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818120" y="1143000"/>
            <a:ext cx="3383280" cy="3383280"/>
          </a:xfrm>
          <a:prstGeom prst="ellipse">
            <a:avLst/>
          </a:prstGeom>
          <a:noFill/>
          <a:ln w="17780">
            <a:solidFill>
              <a:srgbClr val="1A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75320" y="1600200"/>
            <a:ext cx="2468880" cy="2468880"/>
          </a:xfrm>
          <a:prstGeom prst="ellipse">
            <a:avLst/>
          </a:prstGeom>
          <a:noFill/>
          <a:ln w="17780">
            <a:solidFill>
              <a:srgbClr val="20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732520" y="2057400"/>
            <a:ext cx="1554480" cy="1554480"/>
          </a:xfrm>
          <a:prstGeom prst="ellipse">
            <a:avLst/>
          </a:prstGeom>
          <a:noFill/>
          <a:ln w="17780">
            <a:solidFill>
              <a:srgbClr val="254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726679" y="1874519"/>
            <a:ext cx="219456" cy="219456"/>
          </a:xfrm>
          <a:prstGeom prst="ellipse">
            <a:avLst/>
          </a:prstGeom>
          <a:solidFill>
            <a:srgbClr val="70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10144" y="1842515"/>
            <a:ext cx="987552" cy="292608"/>
          </a:xfrm>
          <a:prstGeom prst="roundRect">
            <a:avLst>
              <a:gd name="adj" fmla="val 12000"/>
            </a:avLst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55863" y="1879091"/>
            <a:ext cx="896112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A7FF"/>
                </a:solidFill>
                <a:latin typeface="Aptos"/>
              </a:rPr>
              <a:t>API</a:t>
            </a:r>
          </a:p>
        </p:txBody>
      </p:sp>
      <p:sp>
        <p:nvSpPr>
          <p:cNvPr id="23" name="Oval 22"/>
          <p:cNvSpPr/>
          <p:nvPr/>
        </p:nvSpPr>
        <p:spPr>
          <a:xfrm>
            <a:off x="9966960" y="2286000"/>
            <a:ext cx="219456" cy="219456"/>
          </a:xfrm>
          <a:prstGeom prst="ellipse">
            <a:avLst/>
          </a:prstGeom>
          <a:solidFill>
            <a:srgbClr val="42E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250424" y="2253996"/>
            <a:ext cx="987552" cy="292608"/>
          </a:xfrm>
          <a:prstGeom prst="roundRect">
            <a:avLst>
              <a:gd name="adj" fmla="val 12000"/>
            </a:avLst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296144" y="2290572"/>
            <a:ext cx="896112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2E2C4"/>
                </a:solidFill>
                <a:latin typeface="Aptos"/>
              </a:rPr>
              <a:t>AIOps</a:t>
            </a:r>
          </a:p>
        </p:txBody>
      </p:sp>
      <p:sp>
        <p:nvSpPr>
          <p:cNvPr id="26" name="Oval 25"/>
          <p:cNvSpPr/>
          <p:nvPr/>
        </p:nvSpPr>
        <p:spPr>
          <a:xfrm>
            <a:off x="8366760" y="4160520"/>
            <a:ext cx="219456" cy="219456"/>
          </a:xfrm>
          <a:prstGeom prst="ellipse">
            <a:avLst/>
          </a:prstGeom>
          <a:solidFill>
            <a:srgbClr val="FF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650224" y="4128515"/>
            <a:ext cx="987552" cy="292608"/>
          </a:xfrm>
          <a:prstGeom prst="roundRect">
            <a:avLst>
              <a:gd name="adj" fmla="val 12000"/>
            </a:avLst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95944" y="4165091"/>
            <a:ext cx="896112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E69"/>
                </a:solidFill>
                <a:latin typeface="Aptos"/>
              </a:rPr>
              <a:t>LED</a:t>
            </a:r>
          </a:p>
        </p:txBody>
      </p:sp>
      <p:sp>
        <p:nvSpPr>
          <p:cNvPr id="29" name="Oval 28"/>
          <p:cNvSpPr/>
          <p:nvPr/>
        </p:nvSpPr>
        <p:spPr>
          <a:xfrm>
            <a:off x="10241280" y="4343400"/>
            <a:ext cx="219456" cy="219456"/>
          </a:xfrm>
          <a:prstGeom prst="ellipse">
            <a:avLst/>
          </a:prstGeom>
          <a:solidFill>
            <a:srgbClr val="FF7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24744" y="4311396"/>
            <a:ext cx="987552" cy="292608"/>
          </a:xfrm>
          <a:prstGeom prst="roundRect">
            <a:avLst>
              <a:gd name="adj" fmla="val 12000"/>
            </a:avLst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70463" y="4347972"/>
            <a:ext cx="896112" cy="1737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7484"/>
                </a:solidFill>
                <a:latin typeface="Aptos"/>
              </a:rPr>
              <a:t>OBS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09560" y="1984248"/>
            <a:ext cx="594360" cy="685800"/>
          </a:xfrm>
          <a:prstGeom prst="line">
            <a:avLst/>
          </a:prstGeom>
          <a:ln w="20320">
            <a:solidFill>
              <a:srgbClr val="70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921240" y="2468880"/>
            <a:ext cx="274320" cy="146304"/>
          </a:xfrm>
          <a:prstGeom prst="line">
            <a:avLst/>
          </a:prstGeom>
          <a:ln w="20320">
            <a:solidFill>
              <a:srgbClr val="42E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8522208" y="3749039"/>
            <a:ext cx="301752" cy="484633"/>
          </a:xfrm>
          <a:prstGeom prst="line">
            <a:avLst/>
          </a:prstGeom>
          <a:ln w="19050">
            <a:solidFill>
              <a:srgbClr val="FFBE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921240" y="3840480"/>
            <a:ext cx="393192" cy="594360"/>
          </a:xfrm>
          <a:prstGeom prst="line">
            <a:avLst/>
          </a:prstGeom>
          <a:ln w="19050">
            <a:solidFill>
              <a:srgbClr val="FF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58368" y="594360"/>
            <a:ext cx="1993392" cy="310896"/>
          </a:xfrm>
          <a:prstGeom prst="roundRect">
            <a:avLst>
              <a:gd name="adj" fmla="val 12000"/>
            </a:avLst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4088" y="608076"/>
            <a:ext cx="1901952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2E2C4"/>
                </a:solidFill>
                <a:latin typeface="Aptos"/>
              </a:rPr>
              <a:t>CYBER-RESILIENCE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1417320"/>
            <a:ext cx="6675120" cy="1508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4F7FC"/>
                </a:solidFill>
                <a:latin typeface="Aptos"/>
              </a:rPr>
              <a:t>RESILIENCE
ALPHA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" y="3246120"/>
            <a:ext cx="6126480" cy="6217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2E2C4"/>
                </a:solidFill>
                <a:latin typeface="Aptos"/>
              </a:rPr>
              <a:t>Detection d'incident &amp; reprise autonome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4096512"/>
            <a:ext cx="5303520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8B3C8"/>
                </a:solidFill>
                <a:latin typeface="Aptos"/>
              </a:rPr>
              <a:t>Un demonstrateur de paiement fictif, observable et verifiable.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3232" y="5074920"/>
            <a:ext cx="4663440" cy="0"/>
          </a:xfrm>
          <a:prstGeom prst="line">
            <a:avLst/>
          </a:prstGeom>
          <a:ln w="12700">
            <a:solidFill>
              <a:srgbClr val="2934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13232" y="5266944"/>
            <a:ext cx="53949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4F7FC"/>
                </a:solidFill>
                <a:latin typeface="Aptos"/>
              </a:rPr>
              <a:t>Presentation du projet  |  Workshop M2 2026-2027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5715000"/>
            <a:ext cx="557784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fr-FR" sz="1000" i="1" dirty="0">
                <a:solidFill>
                  <a:srgbClr val="A8B3C8"/>
                </a:solidFill>
                <a:latin typeface="Aptos"/>
              </a:rPr>
              <a:t>Groupe 1 (les meilleurs) – DOMESTICO, CHEVALIER, CHEIKH, BARATIER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73184" y="5989320"/>
            <a:ext cx="2103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B3C8"/>
                </a:solidFill>
                <a:latin typeface="Aptos"/>
              </a:rPr>
              <a:t>OCTOBRE 2026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F54E1F2E-B5A4-F673-04CA-60D9FF2D4BFE}"/>
              </a:ext>
            </a:extLst>
          </p:cNvPr>
          <p:cNvSpPr/>
          <p:nvPr/>
        </p:nvSpPr>
        <p:spPr>
          <a:xfrm>
            <a:off x="11740896" y="6263640"/>
            <a:ext cx="192021" cy="19202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2E2C4"/>
                </a:solidFill>
                <a:latin typeface="Aptos"/>
              </a:rPr>
              <a:t>01 /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4F7FC"/>
                </a:solidFill>
                <a:latin typeface="Aptos"/>
              </a:rPr>
              <a:t>Pourquoi Resilience Alpha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71016"/>
            <a:ext cx="108813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8"/>
                </a:solidFill>
                <a:latin typeface="Aptos"/>
              </a:rPr>
              <a:t>Quand un service de paiement se degrade, la priorite est de detecter vite, agir dans un perimetre borne et prouver le retour au nominal.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74519"/>
            <a:ext cx="3730752" cy="4069080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6112" y="2148840"/>
            <a:ext cx="1143000" cy="310896"/>
          </a:xfrm>
          <a:prstGeom prst="roundRect">
            <a:avLst>
              <a:gd name="adj" fmla="val 12000"/>
            </a:avLst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162556"/>
            <a:ext cx="1051560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E69"/>
                </a:solidFill>
                <a:latin typeface="Aptos"/>
              </a:rPr>
              <a:t>LE BESOIN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51760"/>
            <a:ext cx="3063240" cy="8412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4F7FC"/>
                </a:solidFill>
                <a:latin typeface="Aptos"/>
              </a:rPr>
              <a:t>Continuer a traiter
malgre l'incident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657600"/>
            <a:ext cx="3017520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B3C8"/>
                </a:solidFill>
                <a:latin typeface="Aptos"/>
              </a:rPr>
              <a:t>La demonstration simule une panne applicative qui rend les paiements indisponibles, puis observe une reponse automatisee.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5166360"/>
            <a:ext cx="306324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BE69"/>
                </a:solidFill>
                <a:latin typeface="Aptos"/>
              </a:rPr>
              <a:t>Donnees et paiements : 100 % fictifs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1965960"/>
            <a:ext cx="62179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8B3C8"/>
                </a:solidFill>
                <a:latin typeface="Aptos"/>
              </a:rPr>
              <a:t>UNE BOUCLE DE RESILIENCE, PAS UNE PROMESSE D'INFAILLIBILITE</a:t>
            </a:r>
          </a:p>
        </p:txBody>
      </p:sp>
      <p:sp>
        <p:nvSpPr>
          <p:cNvPr id="12" name="Oval 11"/>
          <p:cNvSpPr/>
          <p:nvPr/>
        </p:nvSpPr>
        <p:spPr>
          <a:xfrm>
            <a:off x="4773168" y="2834640"/>
            <a:ext cx="438912" cy="438912"/>
          </a:xfrm>
          <a:prstGeom prst="ellipse">
            <a:avLst/>
          </a:prstGeom>
          <a:solidFill>
            <a:srgbClr val="70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73168" y="2907792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21D"/>
                </a:solidFill>
                <a:latin typeface="Aptos"/>
              </a:rPr>
              <a:t>01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30368" y="3054096"/>
            <a:ext cx="1024128" cy="0"/>
          </a:xfrm>
          <a:prstGeom prst="line">
            <a:avLst/>
          </a:prstGeom>
          <a:ln w="25400">
            <a:solidFill>
              <a:srgbClr val="2934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73168" y="3502152"/>
            <a:ext cx="148132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C"/>
                </a:solidFill>
                <a:latin typeface="Aptos"/>
              </a:rPr>
              <a:t>Observer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3886200"/>
            <a:ext cx="141732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3C8"/>
                </a:solidFill>
                <a:latin typeface="Aptos"/>
              </a:rPr>
              <a:t>Metriques &amp; evenements</a:t>
            </a:r>
          </a:p>
        </p:txBody>
      </p:sp>
      <p:sp>
        <p:nvSpPr>
          <p:cNvPr id="17" name="Oval 16"/>
          <p:cNvSpPr/>
          <p:nvPr/>
        </p:nvSpPr>
        <p:spPr>
          <a:xfrm>
            <a:off x="6473952" y="2834640"/>
            <a:ext cx="438912" cy="438912"/>
          </a:xfrm>
          <a:prstGeom prst="ellipse">
            <a:avLst/>
          </a:prstGeom>
          <a:solidFill>
            <a:srgbClr val="FF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3952" y="2907792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21D"/>
                </a:solidFill>
                <a:latin typeface="Aptos"/>
              </a:rPr>
              <a:t>02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31152" y="3054096"/>
            <a:ext cx="1024127" cy="0"/>
          </a:xfrm>
          <a:prstGeom prst="line">
            <a:avLst/>
          </a:prstGeom>
          <a:ln w="25400">
            <a:solidFill>
              <a:srgbClr val="2934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73952" y="3502152"/>
            <a:ext cx="148132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C"/>
                </a:solidFill>
                <a:latin typeface="Aptos"/>
              </a:rPr>
              <a:t>Detecter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886200"/>
            <a:ext cx="141732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3C8"/>
                </a:solidFill>
                <a:latin typeface="Aptos"/>
              </a:rPr>
              <a:t>Anomalie etayee</a:t>
            </a:r>
          </a:p>
        </p:txBody>
      </p:sp>
      <p:sp>
        <p:nvSpPr>
          <p:cNvPr id="22" name="Oval 21"/>
          <p:cNvSpPr/>
          <p:nvPr/>
        </p:nvSpPr>
        <p:spPr>
          <a:xfrm>
            <a:off x="8174736" y="2834640"/>
            <a:ext cx="438912" cy="438912"/>
          </a:xfrm>
          <a:prstGeom prst="ellipse">
            <a:avLst/>
          </a:prstGeom>
          <a:solidFill>
            <a:srgbClr val="42E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74736" y="2907792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21D"/>
                </a:solidFill>
                <a:latin typeface="Aptos"/>
              </a:rPr>
              <a:t>03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31936" y="3054096"/>
            <a:ext cx="1024127" cy="0"/>
          </a:xfrm>
          <a:prstGeom prst="line">
            <a:avLst/>
          </a:prstGeom>
          <a:ln w="25400">
            <a:solidFill>
              <a:srgbClr val="2934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174736" y="3502152"/>
            <a:ext cx="148132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C"/>
                </a:solidFill>
                <a:latin typeface="Aptos"/>
              </a:rPr>
              <a:t>Reparer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3886200"/>
            <a:ext cx="141732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3C8"/>
                </a:solidFill>
                <a:latin typeface="Aptos"/>
              </a:rPr>
              <a:t>Action limitee</a:t>
            </a:r>
          </a:p>
        </p:txBody>
      </p:sp>
      <p:sp>
        <p:nvSpPr>
          <p:cNvPr id="27" name="Oval 26"/>
          <p:cNvSpPr/>
          <p:nvPr/>
        </p:nvSpPr>
        <p:spPr>
          <a:xfrm>
            <a:off x="9875520" y="2834640"/>
            <a:ext cx="438912" cy="438912"/>
          </a:xfrm>
          <a:prstGeom prst="ellipse">
            <a:avLst/>
          </a:prstGeom>
          <a:solidFill>
            <a:srgbClr val="58D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75520" y="2907792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21D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3502152"/>
            <a:ext cx="148132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C"/>
                </a:solidFill>
                <a:latin typeface="Aptos"/>
              </a:rPr>
              <a:t>Verifier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886200"/>
            <a:ext cx="141732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3C8"/>
                </a:solidFill>
                <a:latin typeface="Aptos"/>
              </a:rPr>
              <a:t>Sante + paiement test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73168" y="5074920"/>
            <a:ext cx="6629400" cy="713232"/>
          </a:xfrm>
          <a:prstGeom prst="roundRect">
            <a:avLst>
              <a:gd name="adj" fmla="val 12000"/>
            </a:avLst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47488" y="5266944"/>
            <a:ext cx="60807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2E2C4"/>
                </a:solidFill>
                <a:latin typeface="Aptos"/>
              </a:rPr>
              <a:t>Objectif : rendre la reprise visible, controlee et traceable.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2934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12648" y="6574536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3C8"/>
                </a:solidFill>
                <a:latin typeface="Aptos"/>
              </a:rPr>
              <a:t>RESILIENCE ALPHA  /  DEMONSTRATEUR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91088" y="6556248"/>
            <a:ext cx="548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2E2C4"/>
                </a:solidFill>
                <a:latin typeface="Aptos"/>
              </a:rPr>
              <a:t>02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2D60E6F2-4441-5C9C-822C-2A10F8AA6CE4}"/>
              </a:ext>
            </a:extLst>
          </p:cNvPr>
          <p:cNvSpPr/>
          <p:nvPr/>
        </p:nvSpPr>
        <p:spPr>
          <a:xfrm>
            <a:off x="11740896" y="6263640"/>
            <a:ext cx="192021" cy="19202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2E2C4"/>
                </a:solidFill>
                <a:latin typeface="Aptos"/>
              </a:rPr>
              <a:t>02 / DETAILS FONCTIONNELS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4F7FC"/>
                </a:solidFill>
                <a:latin typeface="Aptos"/>
              </a:rPr>
              <a:t>Du parcours operateur a la reprise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71016"/>
            <a:ext cx="108813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8"/>
                </a:solidFill>
                <a:latin typeface="Aptos"/>
              </a:rPr>
              <a:t>Quatre capacites integrees dans un meme scenario de demonstration.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74519"/>
            <a:ext cx="5330952" cy="1737360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" y="2084831"/>
            <a:ext cx="411480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0A7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057400"/>
            <a:ext cx="41605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4F7FC"/>
                </a:solidFill>
                <a:latin typeface="Aptos"/>
              </a:rPr>
              <a:t>Authentifier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487168"/>
            <a:ext cx="4160520" cy="7040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8"/>
                </a:solidFill>
                <a:latin typeface="Aptos"/>
              </a:rPr>
              <a:t>Identification faciale locale sur le PC hote, puis mot de passe. Les profils sont chiffres ; les tentatives sont limitees.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3227832"/>
            <a:ext cx="1847088" cy="310896"/>
          </a:xfrm>
          <a:prstGeom prst="roundRect">
            <a:avLst>
              <a:gd name="adj" fmla="val 12000"/>
            </a:avLst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63040" y="3241548"/>
            <a:ext cx="1755648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0A7FF"/>
                </a:solidFill>
                <a:latin typeface="Aptos"/>
              </a:rPr>
              <a:t>CAMERA + ESP8266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874519"/>
            <a:ext cx="5330952" cy="1737360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55664" y="2084831"/>
            <a:ext cx="411480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2E2C4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057400"/>
            <a:ext cx="41605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4F7FC"/>
                </a:solidFill>
                <a:latin typeface="Aptos"/>
              </a:rPr>
              <a:t>Simuler un paiement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487168"/>
            <a:ext cx="4160520" cy="7040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8"/>
                </a:solidFill>
                <a:latin typeface="Aptos"/>
              </a:rPr>
              <a:t>Le dashboard envoie une transaction fictive. L'API valide les donnees et enregistre les paiements acceptes.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3227832"/>
            <a:ext cx="1847088" cy="310896"/>
          </a:xfrm>
          <a:prstGeom prst="roundRect">
            <a:avLst>
              <a:gd name="adj" fmla="val 12000"/>
            </a:avLst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86600" y="3241548"/>
            <a:ext cx="1755648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2E2C4"/>
                </a:solidFill>
                <a:latin typeface="Aptos"/>
              </a:rPr>
              <a:t>DASHBOARD -&gt;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913631"/>
            <a:ext cx="5330952" cy="1737360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" y="4123944"/>
            <a:ext cx="411480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7484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096511"/>
            <a:ext cx="41605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4F7FC"/>
                </a:solidFill>
                <a:latin typeface="Aptos"/>
              </a:rPr>
              <a:t>Declencher l'incident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526279"/>
            <a:ext cx="4160520" cy="7040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8"/>
                </a:solidFill>
                <a:latin typeface="Aptos"/>
              </a:rPr>
              <a:t>Un PC de laboratoire autorise injecte une panne controlee. Les requetes touchees recoivent HTTP 503.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5266944"/>
            <a:ext cx="1847088" cy="310896"/>
          </a:xfrm>
          <a:prstGeom prst="roundRect">
            <a:avLst>
              <a:gd name="adj" fmla="val 12000"/>
            </a:avLst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63040" y="5280659"/>
            <a:ext cx="1755648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7484"/>
                </a:solidFill>
                <a:latin typeface="Aptos"/>
              </a:rPr>
              <a:t>JETON D'EXERCICE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3913631"/>
            <a:ext cx="5330952" cy="1737360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55664" y="4123944"/>
            <a:ext cx="411480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BE69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096511"/>
            <a:ext cx="41605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4F7FC"/>
                </a:solidFill>
                <a:latin typeface="Aptos"/>
              </a:rPr>
              <a:t>Retablir &amp; prouver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526279"/>
            <a:ext cx="4160520" cy="7040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8"/>
                </a:solidFill>
                <a:latin typeface="Aptos"/>
              </a:rPr>
              <a:t>AIOps examine les signaux, demande la remediation limitee et valide la reprise avec un paiement de controle.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5266944"/>
            <a:ext cx="1847088" cy="310896"/>
          </a:xfrm>
          <a:prstGeom prst="roundRect">
            <a:avLst>
              <a:gd name="adj" fmla="val 12000"/>
            </a:avLst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86600" y="5280659"/>
            <a:ext cx="1755648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E69"/>
                </a:solidFill>
                <a:latin typeface="Aptos"/>
              </a:rPr>
              <a:t>DECISION -&gt; PREUVE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6053328"/>
            <a:ext cx="10954512" cy="292608"/>
          </a:xfrm>
          <a:prstGeom prst="roundRect">
            <a:avLst>
              <a:gd name="adj" fmla="val 12000"/>
            </a:avLst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6094476"/>
            <a:ext cx="1065276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3C8"/>
                </a:solidFill>
                <a:latin typeface="Aptos"/>
              </a:rPr>
              <a:t>Le dashboard, les logs et Grafana rendent visibles les etats avant / pendant / apres incident.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2934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12648" y="6574536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3C8"/>
                </a:solidFill>
                <a:latin typeface="Aptos"/>
              </a:rPr>
              <a:t>RESILIENCE ALPHA  /  DEMONSTRATEUR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91088" y="6556248"/>
            <a:ext cx="548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2E2C4"/>
                </a:solidFill>
                <a:latin typeface="Aptos"/>
              </a:rPr>
              <a:t>03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99862B44-F2B8-3174-7695-D8DA5AFA8F5F}"/>
              </a:ext>
            </a:extLst>
          </p:cNvPr>
          <p:cNvSpPr/>
          <p:nvPr/>
        </p:nvSpPr>
        <p:spPr>
          <a:xfrm>
            <a:off x="11740896" y="6263640"/>
            <a:ext cx="192021" cy="19202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2E2C4"/>
                </a:solidFill>
                <a:latin typeface="Aptos"/>
              </a:rPr>
              <a:t>03 / DETAILS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4F7FC"/>
                </a:solidFill>
                <a:latin typeface="Aptos"/>
              </a:rPr>
              <a:t>Une architecture modulaire, locale et observable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71016"/>
            <a:ext cx="108813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8"/>
                </a:solidFill>
                <a:latin typeface="Aptos"/>
              </a:rPr>
              <a:t>Le coeur applicatif tourne dans Docker Compose ; camera et carte ESP8266 restent reliees au PC hote.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65376"/>
            <a:ext cx="1965960" cy="786384"/>
          </a:xfrm>
          <a:prstGeom prst="roundRect">
            <a:avLst>
              <a:gd name="adj" fmla="val 12000"/>
            </a:avLst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2011680"/>
            <a:ext cx="1645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0A7FF"/>
                </a:solidFill>
                <a:latin typeface="Aptos"/>
              </a:rPr>
              <a:t>OPERATEUR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276856"/>
            <a:ext cx="1645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8"/>
                </a:solidFill>
                <a:latin typeface="Aptos"/>
              </a:rPr>
              <a:t>Web + camera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865376"/>
            <a:ext cx="2148840" cy="786384"/>
          </a:xfrm>
          <a:prstGeom prst="roundRect">
            <a:avLst>
              <a:gd name="adj" fmla="val 12000"/>
            </a:avLst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10128" y="201168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BE69"/>
                </a:solidFill>
                <a:latin typeface="Aptos"/>
              </a:rPr>
              <a:t>FACE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2276856"/>
            <a:ext cx="1828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3C8"/>
                </a:solidFill>
                <a:latin typeface="Aptos"/>
              </a:rPr>
              <a:t>YuNet / SFace + serie USB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70448" y="1865376"/>
            <a:ext cx="2148840" cy="786384"/>
          </a:xfrm>
          <a:prstGeom prst="roundRect">
            <a:avLst>
              <a:gd name="adj" fmla="val 12000"/>
            </a:avLst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201168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2E2C4"/>
                </a:solidFill>
                <a:latin typeface="Aptos"/>
              </a:rP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276856"/>
            <a:ext cx="1828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8"/>
                </a:solidFill>
                <a:latin typeface="Aptos"/>
              </a:rPr>
              <a:t>React / Nginx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7072" y="1865376"/>
            <a:ext cx="2514600" cy="786384"/>
          </a:xfrm>
          <a:prstGeom prst="roundRect">
            <a:avLst>
              <a:gd name="adj" fmla="val 12000"/>
            </a:avLst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59952" y="2011680"/>
            <a:ext cx="21488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BE69"/>
                </a:solidFill>
                <a:latin typeface="Aptos"/>
              </a:rPr>
              <a:t>ESP8266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2276856"/>
            <a:ext cx="214884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8"/>
                </a:solidFill>
                <a:latin typeface="Aptos"/>
              </a:rPr>
              <a:t>LED bicolore - USB serie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06040" y="2249424"/>
            <a:ext cx="548640" cy="0"/>
          </a:xfrm>
          <a:prstGeom prst="line">
            <a:avLst/>
          </a:prstGeom>
          <a:ln w="16510">
            <a:solidFill>
              <a:srgbClr val="70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303520" y="2249424"/>
            <a:ext cx="566928" cy="0"/>
          </a:xfrm>
          <a:prstGeom prst="line">
            <a:avLst/>
          </a:prstGeom>
          <a:ln w="16510">
            <a:solidFill>
              <a:srgbClr val="FFBE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19288" y="2249424"/>
            <a:ext cx="557784" cy="0"/>
          </a:xfrm>
          <a:prstGeom prst="line">
            <a:avLst/>
          </a:prstGeom>
          <a:ln w="16510">
            <a:solidFill>
              <a:srgbClr val="42E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2960" y="3401568"/>
            <a:ext cx="1755648" cy="941832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575304"/>
            <a:ext cx="1609344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0A7FF"/>
                </a:solidFill>
                <a:latin typeface="Aptos"/>
              </a:rPr>
              <a:t>WAF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858768"/>
            <a:ext cx="160934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3C8"/>
                </a:solidFill>
                <a:latin typeface="Aptos"/>
              </a:rPr>
              <a:t>Filtrage HTTP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07792" y="3401568"/>
            <a:ext cx="1755648" cy="941832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80944" y="3575304"/>
            <a:ext cx="1609344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E69"/>
                </a:solidFill>
                <a:latin typeface="Aptos"/>
              </a:rPr>
              <a:t>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80944" y="3858768"/>
            <a:ext cx="160934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3C8"/>
                </a:solidFill>
                <a:latin typeface="Aptos"/>
              </a:rPr>
              <a:t>Jetons operateur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10912" y="3401568"/>
            <a:ext cx="1755648" cy="941832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84064" y="3575304"/>
            <a:ext cx="1609344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2E2C4"/>
                </a:solidFill>
                <a:latin typeface="Aptos"/>
              </a:rPr>
              <a:t>PAYMENT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84064" y="3858768"/>
            <a:ext cx="160934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3C8"/>
                </a:solidFill>
                <a:latin typeface="Aptos"/>
              </a:rPr>
              <a:t>FastAPI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3401568"/>
            <a:ext cx="1755648" cy="941832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88352" y="3575304"/>
            <a:ext cx="1609344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0A7FF"/>
                </a:solidFill>
                <a:latin typeface="Aptos"/>
              </a:rPr>
              <a:t>POSTGRESQL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3858768"/>
            <a:ext cx="160934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3C8"/>
                </a:solidFill>
                <a:latin typeface="Aptos"/>
              </a:rPr>
              <a:t>Transactions fictives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55480" y="3401568"/>
            <a:ext cx="1755648" cy="941832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28632" y="3575304"/>
            <a:ext cx="1609344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7484"/>
                </a:solidFill>
                <a:latin typeface="Aptos"/>
              </a:rPr>
              <a:t>AIOps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28632" y="3858768"/>
            <a:ext cx="160934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3C8"/>
                </a:solidFill>
                <a:latin typeface="Aptos"/>
              </a:rPr>
              <a:t>Isolation Forest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578608" y="3867912"/>
            <a:ext cx="329184" cy="0"/>
          </a:xfrm>
          <a:prstGeom prst="line">
            <a:avLst/>
          </a:prstGeom>
          <a:ln w="20320">
            <a:solidFill>
              <a:srgbClr val="70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663440" y="3867912"/>
            <a:ext cx="347472" cy="0"/>
          </a:xfrm>
          <a:prstGeom prst="line">
            <a:avLst/>
          </a:prstGeom>
          <a:ln w="20320">
            <a:solidFill>
              <a:srgbClr val="FFBE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766560" y="3867912"/>
            <a:ext cx="548640" cy="0"/>
          </a:xfrm>
          <a:prstGeom prst="line">
            <a:avLst/>
          </a:prstGeom>
          <a:ln w="20320">
            <a:solidFill>
              <a:srgbClr val="42E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070848" y="3867912"/>
            <a:ext cx="484632" cy="0"/>
          </a:xfrm>
          <a:prstGeom prst="line">
            <a:avLst/>
          </a:prstGeom>
          <a:ln w="20320">
            <a:solidFill>
              <a:srgbClr val="FF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5888736" y="2651760"/>
            <a:ext cx="1033272" cy="749808"/>
          </a:xfrm>
          <a:prstGeom prst="line">
            <a:avLst/>
          </a:prstGeom>
          <a:ln w="16510">
            <a:solidFill>
              <a:srgbClr val="42E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3785615" y="2651760"/>
            <a:ext cx="420625" cy="749808"/>
          </a:xfrm>
          <a:prstGeom prst="line">
            <a:avLst/>
          </a:prstGeom>
          <a:ln w="16510">
            <a:solidFill>
              <a:srgbClr val="FFBE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144000" y="2651760"/>
            <a:ext cx="1280160" cy="749808"/>
          </a:xfrm>
          <a:prstGeom prst="line">
            <a:avLst/>
          </a:prstGeom>
          <a:ln w="16510">
            <a:solidFill>
              <a:srgbClr val="FFBE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22960" y="4892040"/>
            <a:ext cx="4773168" cy="868680"/>
          </a:xfrm>
          <a:prstGeom prst="roundRect">
            <a:avLst>
              <a:gd name="adj" fmla="val 12000"/>
            </a:avLst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24128" y="5047488"/>
            <a:ext cx="43891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0A7FF"/>
                </a:solidFill>
                <a:latin typeface="Aptos"/>
              </a:rPr>
              <a:t>PROMETHEUS  +  LOKI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" y="5367528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8"/>
                </a:solidFill>
                <a:latin typeface="Aptos"/>
              </a:rPr>
              <a:t>Metriques / evenements / traces de decision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16168" y="4892040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26480" y="5047488"/>
            <a:ext cx="498348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2E2C4"/>
                </a:solidFill>
                <a:latin typeface="Aptos"/>
              </a:rPr>
              <a:t>GRAFANA  +  JOURNAL METIER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5367528"/>
            <a:ext cx="4983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8"/>
                </a:solidFill>
                <a:latin typeface="Aptos"/>
              </a:rPr>
              <a:t>Vue operateur sur l'incident et la reprise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3200400" y="4343400"/>
            <a:ext cx="2688336" cy="548640"/>
          </a:xfrm>
          <a:prstGeom prst="line">
            <a:avLst/>
          </a:prstGeom>
          <a:ln w="16510">
            <a:solidFill>
              <a:srgbClr val="70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8595360" y="4343400"/>
            <a:ext cx="1828800" cy="548640"/>
          </a:xfrm>
          <a:prstGeom prst="line">
            <a:avLst/>
          </a:prstGeom>
          <a:ln w="16510">
            <a:solidFill>
              <a:srgbClr val="42E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68680" y="5961888"/>
            <a:ext cx="104241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sz="1000" b="1">
                <a:solidFill>
                  <a:srgbClr val="A8B3C8"/>
                </a:solidFill>
                <a:latin typeface="Aptos"/>
              </a:rPr>
              <a:t>Ansible : deploiement / reprise. Assistant RAG local (profil AI), sans droit de remediation.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2934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12648" y="6574536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3C8"/>
                </a:solidFill>
                <a:latin typeface="Aptos"/>
              </a:rPr>
              <a:t>RESILIENCE ALPHA  /  DEMONSTRATEUR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91088" y="6556248"/>
            <a:ext cx="548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2E2C4"/>
                </a:solidFill>
                <a:latin typeface="Aptos"/>
              </a:rPr>
              <a:t>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6199632"/>
            <a:ext cx="1042416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900" b="1">
                <a:solidFill>
                  <a:srgbClr val="A8B3C8"/>
                </a:solidFill>
                <a:latin typeface="Aptos"/>
              </a:rPr>
              <a:t>Reseau interne Compose / ports exposes limites / secrets hors du depot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696A7E9B-82E7-B182-2DD6-2534E80D08BC}"/>
              </a:ext>
            </a:extLst>
          </p:cNvPr>
          <p:cNvSpPr/>
          <p:nvPr/>
        </p:nvSpPr>
        <p:spPr>
          <a:xfrm>
            <a:off x="11740896" y="6263640"/>
            <a:ext cx="192021" cy="19202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2E2C4"/>
                </a:solidFill>
                <a:latin typeface="Aptos"/>
              </a:rPr>
              <a:t>03 / DETAILS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4F7FC"/>
                </a:solidFill>
                <a:latin typeface="Aptos"/>
              </a:rPr>
              <a:t>Detecter avec des signaux, agir avec des garde-fous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71016"/>
            <a:ext cx="108813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8"/>
                </a:solidFill>
                <a:latin typeface="Aptos"/>
              </a:rPr>
              <a:t>La prediction seule ne declenche pas la remediation : le systeme exige aussi des indices metier.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56231"/>
            <a:ext cx="1719072" cy="1078992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2029968"/>
            <a:ext cx="1389888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70A7FF"/>
                </a:solidFill>
                <a:latin typeface="Aptos"/>
              </a:rPr>
              <a:t>60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78608"/>
            <a:ext cx="1444752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3C8"/>
                </a:solidFill>
                <a:latin typeface="Aptos"/>
              </a:rPr>
              <a:t>fenetre Prometheus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78608" y="1856231"/>
            <a:ext cx="1719072" cy="1078992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0" y="2029968"/>
            <a:ext cx="1389888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BE69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5768" y="2578608"/>
            <a:ext cx="1444752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3C8"/>
                </a:solidFill>
                <a:latin typeface="Aptos"/>
              </a:rPr>
              <a:t>requetes minimum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1856231"/>
            <a:ext cx="1719072" cy="1078992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029968"/>
            <a:ext cx="1389888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7484"/>
                </a:solidFill>
                <a:latin typeface="Aptos"/>
              </a:rPr>
              <a:t>25 %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578608"/>
            <a:ext cx="1444752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3C8"/>
                </a:solidFill>
                <a:latin typeface="Aptos"/>
              </a:rPr>
              <a:t>ratio 5xx minimum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1856231"/>
            <a:ext cx="4709160" cy="1078992"/>
          </a:xfrm>
          <a:prstGeom prst="roundRect">
            <a:avLst>
              <a:gd name="adj" fmla="val 12000"/>
            </a:avLst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76872" y="2020824"/>
            <a:ext cx="42062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C"/>
                </a:solidFill>
                <a:latin typeface="Aptos"/>
              </a:rPr>
              <a:t>Isolation Forest - scikit-learn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2386584"/>
            <a:ext cx="4169663" cy="3749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8"/>
                </a:solidFill>
                <a:latin typeface="Aptos"/>
              </a:rPr>
              <a:t>Entrainement initial sur 800 observations nominales synthetiques (graine 42).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474720"/>
            <a:ext cx="1901952" cy="1051560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04672" y="3657600"/>
            <a:ext cx="173736" cy="173736"/>
          </a:xfrm>
          <a:prstGeom prst="ellipse">
            <a:avLst/>
          </a:prstGeom>
          <a:solidFill>
            <a:srgbClr val="70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9848" y="3648456"/>
            <a:ext cx="13533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F7FC"/>
                </a:solidFill>
                <a:latin typeface="Aptos"/>
              </a:rPr>
              <a:t>Prometheus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014215"/>
            <a:ext cx="1618488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3C8"/>
                </a:solidFill>
                <a:latin typeface="Aptos"/>
              </a:rPr>
              <a:t>volume / 5xx / latence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78608" y="4005072"/>
            <a:ext cx="274320" cy="0"/>
          </a:xfrm>
          <a:prstGeom prst="line">
            <a:avLst/>
          </a:prstGeom>
          <a:ln w="25400">
            <a:solidFill>
              <a:srgbClr val="2934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907791" y="3474720"/>
            <a:ext cx="1901952" cy="1051560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054096" y="3657600"/>
            <a:ext cx="173736" cy="173736"/>
          </a:xfrm>
          <a:prstGeom prst="ellipse">
            <a:avLst/>
          </a:prstGeom>
          <a:solidFill>
            <a:srgbClr val="FF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19272" y="3648456"/>
            <a:ext cx="13533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F7FC"/>
                </a:solidFill>
                <a:latin typeface="Aptos"/>
              </a:rPr>
              <a:t>Detecteur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54096" y="4014215"/>
            <a:ext cx="1618488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3C8"/>
                </a:solidFill>
                <a:latin typeface="Aptos"/>
              </a:rPr>
              <a:t>score d'anomalie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28031" y="4005072"/>
            <a:ext cx="274321" cy="0"/>
          </a:xfrm>
          <a:prstGeom prst="line">
            <a:avLst/>
          </a:prstGeom>
          <a:ln w="25400">
            <a:solidFill>
              <a:srgbClr val="2934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57216" y="3474720"/>
            <a:ext cx="1901952" cy="1051560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303520" y="3657600"/>
            <a:ext cx="173736" cy="173736"/>
          </a:xfrm>
          <a:prstGeom prst="ellipse">
            <a:avLst/>
          </a:prstGeom>
          <a:solidFill>
            <a:srgbClr val="FF7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68696" y="3648456"/>
            <a:ext cx="13533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F7FC"/>
                </a:solidFill>
                <a:latin typeface="Aptos"/>
              </a:rPr>
              <a:t>Garde-fous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014215"/>
            <a:ext cx="1618488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3C8"/>
                </a:solidFill>
                <a:latin typeface="Aptos"/>
              </a:rPr>
              <a:t>score + seuils metier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077456" y="4005072"/>
            <a:ext cx="274319" cy="0"/>
          </a:xfrm>
          <a:prstGeom prst="line">
            <a:avLst/>
          </a:prstGeom>
          <a:ln w="25400">
            <a:solidFill>
              <a:srgbClr val="2934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406640" y="3474720"/>
            <a:ext cx="1901952" cy="1051560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552944" y="3657600"/>
            <a:ext cx="173736" cy="173736"/>
          </a:xfrm>
          <a:prstGeom prst="ellipse">
            <a:avLst/>
          </a:prstGeom>
          <a:solidFill>
            <a:srgbClr val="42E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18119" y="3648456"/>
            <a:ext cx="13533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F7FC"/>
                </a:solidFill>
                <a:latin typeface="Aptos"/>
              </a:rPr>
              <a:t>API interne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52944" y="4014215"/>
            <a:ext cx="1618488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3C8"/>
                </a:solidFill>
                <a:latin typeface="Aptos"/>
              </a:rPr>
              <a:t>remediation bornee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26880" y="4005072"/>
            <a:ext cx="274320" cy="0"/>
          </a:xfrm>
          <a:prstGeom prst="line">
            <a:avLst/>
          </a:prstGeom>
          <a:ln w="25400">
            <a:solidFill>
              <a:srgbClr val="2934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656064" y="3474720"/>
            <a:ext cx="1901952" cy="1051560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802368" y="3657600"/>
            <a:ext cx="173736" cy="173736"/>
          </a:xfrm>
          <a:prstGeom prst="ellipse">
            <a:avLst/>
          </a:prstGeom>
          <a:solidFill>
            <a:srgbClr val="58D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67544" y="3648456"/>
            <a:ext cx="13533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F7FC"/>
                </a:solidFill>
                <a:latin typeface="Aptos"/>
              </a:rPr>
              <a:t>Controle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02368" y="4014215"/>
            <a:ext cx="1618488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3C8"/>
                </a:solidFill>
                <a:latin typeface="Aptos"/>
              </a:rPr>
              <a:t>sante + transaction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010912"/>
            <a:ext cx="10771632" cy="804672"/>
          </a:xfrm>
          <a:prstGeom prst="roundRect">
            <a:avLst>
              <a:gd name="adj" fmla="val 12000"/>
            </a:avLst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5175504"/>
            <a:ext cx="20116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2E2C4"/>
                </a:solidFill>
                <a:latin typeface="Aptos"/>
              </a:rPr>
              <a:t>EVALUATION SYNTHETIQUE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35808" y="5102352"/>
            <a:ext cx="2057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BE69"/>
                </a:solidFill>
                <a:latin typeface="Aptos"/>
              </a:rPr>
              <a:t>4 %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35808" y="5504688"/>
            <a:ext cx="214884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3C8"/>
                </a:solidFill>
                <a:latin typeface="Aptos"/>
              </a:rPr>
              <a:t>faux positifs : 16 / 400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5102352"/>
            <a:ext cx="20116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58D6A5"/>
                </a:solidFill>
                <a:latin typeface="Aptos"/>
              </a:rPr>
              <a:t>0 %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06440" y="5504688"/>
            <a:ext cx="21031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3C8"/>
                </a:solidFill>
                <a:latin typeface="Aptos"/>
              </a:rPr>
              <a:t>faux negatifs : 0 / 200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5148072"/>
            <a:ext cx="288036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3C8"/>
                </a:solidFill>
                <a:latin typeface="Aptos"/>
              </a:rPr>
              <a:t>Resultats sur jeu artificiel deterministe ; ne prejugent pas du trafic reel.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2934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12648" y="6574536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3C8"/>
                </a:solidFill>
                <a:latin typeface="Aptos"/>
              </a:rPr>
              <a:t>RESILIENCE ALPHA  /  DEMONSTRATEUR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91088" y="6556248"/>
            <a:ext cx="548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2E2C4"/>
                </a:solidFill>
                <a:latin typeface="Aptos"/>
              </a:rPr>
              <a:t>05</a:t>
            </a: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7093AACC-B4EB-D98B-7967-0BEDE465624A}"/>
              </a:ext>
            </a:extLst>
          </p:cNvPr>
          <p:cNvSpPr/>
          <p:nvPr/>
        </p:nvSpPr>
        <p:spPr>
          <a:xfrm>
            <a:off x="11740896" y="6263640"/>
            <a:ext cx="192021" cy="19202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2E2C4"/>
                </a:solidFill>
                <a:latin typeface="Aptos"/>
              </a:rPr>
              <a:t>04 / PARTIE COMPLEMENTAIRE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4F7FC"/>
                </a:solidFill>
                <a:latin typeface="Aptos"/>
              </a:rPr>
              <a:t>Test de la LED : un retour physique du parcours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71016"/>
            <a:ext cx="108813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8"/>
                </a:solidFill>
                <a:latin typeface="Aptos"/>
              </a:rPr>
              <a:t>Le firmware ESP8266 traduit les etapes d'authentification en signaux simples et visibles.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4892040" cy="4160520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32688" y="2084831"/>
            <a:ext cx="1444752" cy="310896"/>
          </a:xfrm>
          <a:prstGeom prst="roundRect">
            <a:avLst>
              <a:gd name="adj" fmla="val 12000"/>
            </a:avLst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2098548"/>
            <a:ext cx="1353312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E69"/>
                </a:solidFill>
                <a:latin typeface="Aptos"/>
              </a:rPr>
              <a:t>CABLAGE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2761488"/>
            <a:ext cx="1600200" cy="2011680"/>
          </a:xfrm>
          <a:prstGeom prst="roundRect">
            <a:avLst>
              <a:gd name="adj" fmla="val 12000"/>
            </a:avLst>
          </a:prstGeom>
          <a:solidFill>
            <a:srgbClr val="20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3054096"/>
            <a:ext cx="135331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7FC"/>
                </a:solidFill>
                <a:latin typeface="Aptos"/>
              </a:rPr>
              <a:t>ESP8266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474720"/>
            <a:ext cx="129844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8"/>
                </a:solidFill>
                <a:latin typeface="Aptos"/>
              </a:rPr>
              <a:t>NodeMCU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913632"/>
            <a:ext cx="129844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2E2C4"/>
                </a:solidFill>
                <a:latin typeface="Aptos"/>
              </a:rPr>
              <a:t>USB / serie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108960"/>
            <a:ext cx="502920" cy="0"/>
          </a:xfrm>
          <a:prstGeom prst="line">
            <a:avLst/>
          </a:prstGeom>
          <a:ln w="25400">
            <a:solidFill>
              <a:srgbClr val="58D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191256" y="2999232"/>
            <a:ext cx="256032" cy="256032"/>
          </a:xfrm>
          <a:prstGeom prst="ellipse">
            <a:avLst/>
          </a:prstGeom>
          <a:solidFill>
            <a:srgbClr val="58D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02736" y="2980944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3026663"/>
            <a:ext cx="1307592" cy="1920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8D6A5"/>
                </a:solidFill>
                <a:latin typeface="Aptos"/>
              </a:rPr>
              <a:t>LED verte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3410712"/>
            <a:ext cx="14173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3C8"/>
                </a:solidFill>
                <a:latin typeface="Aptos"/>
              </a:rPr>
              <a:t>D1 - 220 ohms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51760" y="4270248"/>
            <a:ext cx="502920" cy="0"/>
          </a:xfrm>
          <a:prstGeom prst="line">
            <a:avLst/>
          </a:prstGeom>
          <a:ln w="25400">
            <a:solidFill>
              <a:srgbClr val="FF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191256" y="4160520"/>
            <a:ext cx="256032" cy="256032"/>
          </a:xfrm>
          <a:prstGeom prst="ellipse">
            <a:avLst/>
          </a:prstGeom>
          <a:solidFill>
            <a:srgbClr val="FF7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602736" y="4142232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0" y="4187952"/>
            <a:ext cx="1307592" cy="1920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7484"/>
                </a:solidFill>
                <a:latin typeface="Aptos"/>
              </a:rPr>
              <a:t>LED rouge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2736" y="4572000"/>
            <a:ext cx="14173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3C8"/>
                </a:solidFill>
                <a:latin typeface="Aptos"/>
              </a:rPr>
              <a:t>D2 - 220 ohms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51760" y="4892040"/>
            <a:ext cx="1207008" cy="0"/>
          </a:xfrm>
          <a:prstGeom prst="line">
            <a:avLst/>
          </a:prstGeom>
          <a:ln w="21590">
            <a:solidFill>
              <a:srgbClr val="2934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913632" y="4782312"/>
            <a:ext cx="10058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3C8"/>
                </a:solidFill>
                <a:latin typeface="Aptos"/>
              </a:rPr>
              <a:t>GND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5" y="5404104"/>
            <a:ext cx="40233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E69"/>
                </a:solidFill>
                <a:latin typeface="Aptos"/>
              </a:rPr>
              <a:t>Connexion filaire : Wi-Fi/MQTT non utilise.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61888" y="2084831"/>
            <a:ext cx="1554480" cy="310896"/>
          </a:xfrm>
          <a:prstGeom prst="roundRect">
            <a:avLst>
              <a:gd name="adj" fmla="val 12000"/>
            </a:avLst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07607" y="2098548"/>
            <a:ext cx="1463039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2E2C4"/>
                </a:solidFill>
                <a:latin typeface="Aptos"/>
              </a:rPr>
              <a:t>ETATS LED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61888" y="2670048"/>
            <a:ext cx="5340096" cy="566928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79" y="2834640"/>
            <a:ext cx="303580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4F7FC"/>
                </a:solidFill>
                <a:latin typeface="Aptos"/>
              </a:rPr>
              <a:t>Reconnu - mot de passe attendu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834640"/>
            <a:ext cx="179222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8D6A5"/>
                </a:solidFill>
                <a:latin typeface="Aptos"/>
              </a:rPr>
              <a:t>Vert clignotant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61888" y="3383280"/>
            <a:ext cx="5340096" cy="566928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79" y="3547872"/>
            <a:ext cx="303580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4F7FC"/>
                </a:solidFill>
                <a:latin typeface="Aptos"/>
              </a:rPr>
              <a:t>Mot de passe valide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547872"/>
            <a:ext cx="179222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8D6A5"/>
                </a:solidFill>
                <a:latin typeface="Aptos"/>
              </a:rPr>
              <a:t>Vert fixe - 30 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61888" y="4096512"/>
            <a:ext cx="5340096" cy="566928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79" y="4261104"/>
            <a:ext cx="303580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4F7FC"/>
                </a:solidFill>
                <a:latin typeface="Aptos"/>
              </a:rPr>
              <a:t>Visage non reconnu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4261104"/>
            <a:ext cx="179222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7484"/>
                </a:solidFill>
                <a:latin typeface="Aptos"/>
              </a:rPr>
              <a:t>Rouge fixe - 30 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61888" y="4809744"/>
            <a:ext cx="5340096" cy="566928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26479" y="4974336"/>
            <a:ext cx="3035808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4F7FC"/>
                </a:solidFill>
                <a:latin typeface="Aptos"/>
              </a:rPr>
              <a:t>Mot de passe invalide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4974336"/>
            <a:ext cx="179222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7484"/>
                </a:solidFill>
                <a:latin typeface="Aptos"/>
              </a:rPr>
              <a:t>10 impulsions rouges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61888" y="5596128"/>
            <a:ext cx="5340096" cy="374904"/>
          </a:xfrm>
          <a:prstGeom prst="roundRect">
            <a:avLst>
              <a:gd name="adj" fmla="val 12000"/>
            </a:avLst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26480" y="5669280"/>
            <a:ext cx="5010912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3C8"/>
                </a:solidFill>
                <a:latin typeface="Aptos"/>
              </a:rPr>
              <a:t>Agent local -&gt; serie USB 115200 bauds -&gt; carte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2934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12648" y="6574536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3C8"/>
                </a:solidFill>
                <a:latin typeface="Aptos"/>
              </a:rPr>
              <a:t>RESILIENCE ALPHA  /  DEMONSTRATEUR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91088" y="6556248"/>
            <a:ext cx="548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2E2C4"/>
                </a:solidFill>
                <a:latin typeface="Aptos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61888" y="6099048"/>
            <a:ext cx="5340096" cy="21945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r>
              <a:rPr sz="900" b="1">
                <a:solidFill>
                  <a:srgbClr val="42E2C4"/>
                </a:solidFill>
                <a:latin typeface="Aptos"/>
              </a:rPr>
              <a:t>Test : televerser le firmware -&gt; lancer face_agent -&gt; verifier les 4 etats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81155730-8F92-A584-CBD2-F17E8BED84FD}"/>
              </a:ext>
            </a:extLst>
          </p:cNvPr>
          <p:cNvSpPr/>
          <p:nvPr/>
        </p:nvSpPr>
        <p:spPr>
          <a:xfrm>
            <a:off x="11740896" y="6263640"/>
            <a:ext cx="192021" cy="19202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2E2C4"/>
                </a:solidFill>
                <a:latin typeface="Aptos"/>
              </a:rPr>
              <a:t>05 / PRESENTATION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4F7FC"/>
                </a:solidFill>
                <a:latin typeface="Aptos"/>
              </a:rPr>
              <a:t>Le scenario en direct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71016"/>
            <a:ext cx="108813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8"/>
                </a:solidFill>
                <a:latin typeface="Aptos"/>
              </a:rPr>
              <a:t>A executer uniquement dans le reseau de laboratoire autorise ; montrer les preuves au fil de l'eau.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38528"/>
            <a:ext cx="3456432" cy="1280160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7" y="2139696"/>
            <a:ext cx="365760" cy="365760"/>
          </a:xfrm>
          <a:prstGeom prst="ellipse">
            <a:avLst/>
          </a:prstGeom>
          <a:solidFill>
            <a:srgbClr val="70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194560"/>
            <a:ext cx="36576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21D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21408"/>
            <a:ext cx="25146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C"/>
                </a:solidFill>
                <a:latin typeface="Aptos"/>
              </a:rPr>
              <a:t>Connexion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14600"/>
            <a:ext cx="25146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8"/>
                </a:solidFill>
                <a:latin typeface="Aptos"/>
              </a:rPr>
              <a:t>Visage reconnu -&gt; mot de passe -&gt; retour LED vert.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38528"/>
            <a:ext cx="3456432" cy="1280160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0" y="2139696"/>
            <a:ext cx="365760" cy="365760"/>
          </a:xfrm>
          <a:prstGeom prst="ellipse">
            <a:avLst/>
          </a:prstGeom>
          <a:solidFill>
            <a:srgbClr val="58D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36576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21D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02352" y="2121408"/>
            <a:ext cx="25146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C"/>
                </a:solidFill>
                <a:latin typeface="Aptos"/>
              </a:rPr>
              <a:t>Paiement nominal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2514600"/>
            <a:ext cx="25146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8"/>
                </a:solidFill>
                <a:latin typeface="Aptos"/>
              </a:rPr>
              <a:t>Creer et afficher une transaction fictive acceptee.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938528"/>
            <a:ext cx="3456432" cy="1280160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302752" y="2139696"/>
            <a:ext cx="365760" cy="365760"/>
          </a:xfrm>
          <a:prstGeom prst="ellipse">
            <a:avLst/>
          </a:prstGeom>
          <a:solidFill>
            <a:srgbClr val="FF7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2" y="2194560"/>
            <a:ext cx="36576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21D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121408"/>
            <a:ext cx="25146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C"/>
                </a:solidFill>
                <a:latin typeface="Aptos"/>
              </a:rPr>
              <a:t>Incident controle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3104" y="2514600"/>
            <a:ext cx="25146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8"/>
                </a:solidFill>
                <a:latin typeface="Aptos"/>
              </a:rPr>
              <a:t>Depuis le PC autorise : lancer l'injection et observer les 503.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511296"/>
            <a:ext cx="3456432" cy="1280160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41247" y="3712463"/>
            <a:ext cx="365760" cy="365760"/>
          </a:xfrm>
          <a:prstGeom prst="ellipse">
            <a:avLst/>
          </a:prstGeom>
          <a:solidFill>
            <a:srgbClr val="FF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3767328"/>
            <a:ext cx="36576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21D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694176"/>
            <a:ext cx="25146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C"/>
                </a:solidFill>
                <a:latin typeface="Aptos"/>
              </a:rPr>
              <a:t>Detection AIOps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087368"/>
            <a:ext cx="25146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8"/>
                </a:solidFill>
                <a:latin typeface="Aptos"/>
              </a:rPr>
              <a:t>Afficher metriques, decision et caracteristiques observees.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511296"/>
            <a:ext cx="3456432" cy="1280160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572000" y="3712463"/>
            <a:ext cx="365760" cy="365760"/>
          </a:xfrm>
          <a:prstGeom prst="ellipse">
            <a:avLst/>
          </a:prstGeom>
          <a:solidFill>
            <a:srgbClr val="42E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0" y="3767328"/>
            <a:ext cx="36576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21D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2352" y="3694176"/>
            <a:ext cx="25146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C"/>
                </a:solidFill>
                <a:latin typeface="Aptos"/>
              </a:rPr>
              <a:t>Reprise verifiee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4087368"/>
            <a:ext cx="25146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8"/>
                </a:solidFill>
                <a:latin typeface="Aptos"/>
              </a:rPr>
              <a:t>Montrer sante OK, paiement de controle et nouvelle transaction.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9872" y="3511296"/>
            <a:ext cx="3456432" cy="1280160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302752" y="3712463"/>
            <a:ext cx="365760" cy="365760"/>
          </a:xfrm>
          <a:prstGeom prst="ellipse">
            <a:avLst/>
          </a:prstGeom>
          <a:solidFill>
            <a:srgbClr val="70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02752" y="3767328"/>
            <a:ext cx="36576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21D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3694176"/>
            <a:ext cx="25146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C"/>
                </a:solidFill>
                <a:latin typeface="Aptos"/>
              </a:rPr>
              <a:t>Preuves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33104" y="4087368"/>
            <a:ext cx="25146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8"/>
                </a:solidFill>
                <a:latin typeface="Aptos"/>
              </a:rPr>
              <a:t>Relier dashboard, Grafana/Loki et etat metier.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321808"/>
            <a:ext cx="10917936" cy="576072"/>
          </a:xfrm>
          <a:prstGeom prst="roundRect">
            <a:avLst>
              <a:gd name="adj" fmla="val 12000"/>
            </a:avLst>
          </a:prstGeom>
          <a:solidFill>
            <a:srgbClr val="18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6112" y="5486400"/>
            <a:ext cx="104241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BE69"/>
                </a:solidFill>
                <a:latin typeface="Aptos"/>
              </a:rPr>
              <a:t>Repere de recette : 8 paiements d'exercice ; au moins un 503 ; reprise &lt; 90 s attendue par le script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998464"/>
            <a:ext cx="104241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A8B3C8"/>
                </a:solidFill>
                <a:latin typeface="Aptos"/>
              </a:rPr>
              <a:t>Le resultat mesure pendant la presentation live doit etre consigne en direct : ne pas substituer un essai local a la demo sur deux machines.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2934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2648" y="6574536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3C8"/>
                </a:solidFill>
                <a:latin typeface="Aptos"/>
              </a:rPr>
              <a:t>RESILIENCE ALPHA  /  DEMONSTRATEUR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91088" y="6556248"/>
            <a:ext cx="548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2E2C4"/>
                </a:solidFill>
                <a:latin typeface="Aptos"/>
              </a:rPr>
              <a:t>07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E610DFA4-EB01-973A-BE7B-6D3DC77C4DA8}"/>
              </a:ext>
            </a:extLst>
          </p:cNvPr>
          <p:cNvSpPr/>
          <p:nvPr/>
        </p:nvSpPr>
        <p:spPr>
          <a:xfrm>
            <a:off x="11740896" y="6263640"/>
            <a:ext cx="192021" cy="192024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658368"/>
            <a:ext cx="10881360" cy="5440680"/>
          </a:xfrm>
          <a:prstGeom prst="roundRect">
            <a:avLst>
              <a:gd name="adj" fmla="val 12000"/>
            </a:avLst>
          </a:prstGeom>
          <a:solidFill>
            <a:srgbClr val="12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589520" y="1078992"/>
            <a:ext cx="0" cy="4389120"/>
          </a:xfrm>
          <a:prstGeom prst="line">
            <a:avLst/>
          </a:prstGeom>
          <a:ln w="889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247888" y="1078992"/>
            <a:ext cx="0" cy="4389120"/>
          </a:xfrm>
          <a:prstGeom prst="line">
            <a:avLst/>
          </a:prstGeom>
          <a:ln w="889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906256" y="1078992"/>
            <a:ext cx="0" cy="4389120"/>
          </a:xfrm>
          <a:prstGeom prst="line">
            <a:avLst/>
          </a:prstGeom>
          <a:ln w="889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564624" y="1078992"/>
            <a:ext cx="0" cy="4389120"/>
          </a:xfrm>
          <a:prstGeom prst="line">
            <a:avLst/>
          </a:prstGeom>
          <a:ln w="889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223760" y="1143000"/>
            <a:ext cx="3931920" cy="0"/>
          </a:xfrm>
          <a:prstGeom prst="line">
            <a:avLst/>
          </a:prstGeom>
          <a:ln w="889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223760" y="1828800"/>
            <a:ext cx="3931920" cy="0"/>
          </a:xfrm>
          <a:prstGeom prst="line">
            <a:avLst/>
          </a:prstGeom>
          <a:ln w="889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223760" y="2514600"/>
            <a:ext cx="3931920" cy="0"/>
          </a:xfrm>
          <a:prstGeom prst="line">
            <a:avLst/>
          </a:prstGeom>
          <a:ln w="889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223760" y="3200400"/>
            <a:ext cx="3931920" cy="0"/>
          </a:xfrm>
          <a:prstGeom prst="line">
            <a:avLst/>
          </a:prstGeom>
          <a:ln w="889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223760" y="3886200"/>
            <a:ext cx="3931920" cy="0"/>
          </a:xfrm>
          <a:prstGeom prst="line">
            <a:avLst/>
          </a:prstGeom>
          <a:ln w="889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223760" y="4572000"/>
            <a:ext cx="3931920" cy="0"/>
          </a:xfrm>
          <a:prstGeom prst="line">
            <a:avLst/>
          </a:prstGeom>
          <a:ln w="889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302752" y="1975104"/>
            <a:ext cx="1783080" cy="1783080"/>
          </a:xfrm>
          <a:prstGeom prst="ellipse">
            <a:avLst/>
          </a:prstGeom>
          <a:noFill/>
          <a:ln w="25400">
            <a:solidFill>
              <a:srgbClr val="234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77072" y="2249424"/>
            <a:ext cx="1234440" cy="1234440"/>
          </a:xfrm>
          <a:prstGeom prst="ellipse">
            <a:avLst/>
          </a:prstGeom>
          <a:noFill/>
          <a:ln w="25400">
            <a:solidFill>
              <a:srgbClr val="286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851392" y="2523744"/>
            <a:ext cx="685800" cy="685800"/>
          </a:xfrm>
          <a:prstGeom prst="ellipse">
            <a:avLst/>
          </a:prstGeom>
          <a:noFill/>
          <a:ln w="25400">
            <a:solidFill>
              <a:srgbClr val="42E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070848" y="2743200"/>
            <a:ext cx="246888" cy="246888"/>
          </a:xfrm>
          <a:prstGeom prst="ellipse">
            <a:avLst/>
          </a:prstGeom>
          <a:solidFill>
            <a:srgbClr val="42E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9308592" y="2871216"/>
            <a:ext cx="1161288" cy="0"/>
          </a:xfrm>
          <a:prstGeom prst="line">
            <a:avLst/>
          </a:prstGeom>
          <a:ln w="25400">
            <a:solidFill>
              <a:srgbClr val="42E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70432" y="1161288"/>
            <a:ext cx="58521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2E2C4"/>
                </a:solidFill>
                <a:latin typeface="Aptos"/>
              </a:rPr>
              <a:t>RESILIENCE ALPHA  /  MERCI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084831"/>
            <a:ext cx="5943600" cy="7955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4F7FC"/>
                </a:solidFill>
                <a:latin typeface="Aptos"/>
              </a:rPr>
              <a:t>Merci.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7864" y="3163824"/>
            <a:ext cx="56235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A8B3C8"/>
                </a:solidFill>
                <a:latin typeface="Aptos"/>
              </a:rPr>
              <a:t>Des questions ?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07008" y="4114800"/>
            <a:ext cx="4690872" cy="0"/>
          </a:xfrm>
          <a:prstGeom prst="line">
            <a:avLst/>
          </a:prstGeom>
          <a:ln w="12700">
            <a:solidFill>
              <a:srgbClr val="2934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97864" y="4389120"/>
            <a:ext cx="603504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2E2C4"/>
                </a:solidFill>
                <a:latin typeface="Aptos"/>
              </a:rPr>
              <a:t>Detecter. Agir. Verifier.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7864" y="5522976"/>
            <a:ext cx="594360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fr-FR" sz="1000" i="1" dirty="0">
                <a:solidFill>
                  <a:srgbClr val="A8B3C8"/>
                </a:solidFill>
                <a:latin typeface="Aptos"/>
              </a:rPr>
              <a:t>Groupe 1 (les meilleurs) – DOMESTICO, CHEVALIER, CHEIKH, BARATIER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2934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12648" y="6574536"/>
            <a:ext cx="4572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8B3C8"/>
                </a:solidFill>
                <a:latin typeface="Aptos"/>
              </a:rPr>
              <a:t>RESILIENCE ALPHA  /  DEMONSTRATEUR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91088" y="6556248"/>
            <a:ext cx="548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2E2C4"/>
                </a:solidFill>
                <a:latin typeface="Aptos"/>
              </a:rPr>
              <a:t>09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B84D3772-795E-E05F-3F75-D72E8F728548}"/>
              </a:ext>
            </a:extLst>
          </p:cNvPr>
          <p:cNvSpPr/>
          <p:nvPr/>
        </p:nvSpPr>
        <p:spPr>
          <a:xfrm>
            <a:off x="11740896" y="6263640"/>
            <a:ext cx="192021" cy="192024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843</Words>
  <Application>Microsoft Office PowerPoint</Application>
  <PresentationFormat>Grand écran</PresentationFormat>
  <Paragraphs>172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Resilience Alpha ? Cyber-r?silience et reprise autonome</dc:title>
  <dc:subject>Pr?sentation du d?monstrateur de paiement fictif et de cyber-r?silience</dc:subject>
  <dc:creator>?quipe Resilience Alpha</dc:creator>
  <cp:keywords>cyber-r?silience, AIOps, ESP8266, paiement fictif</cp:keywords>
  <dc:description>generated using python-pptx</dc:description>
  <cp:lastModifiedBy>CHEVALIER Théotim</cp:lastModifiedBy>
  <cp:revision>4</cp:revision>
  <dcterms:created xsi:type="dcterms:W3CDTF">2013-01-27T09:14:16Z</dcterms:created>
  <dcterms:modified xsi:type="dcterms:W3CDTF">2026-10-23T08:06:30Z</dcterms:modified>
  <cp:category/>
</cp:coreProperties>
</file>